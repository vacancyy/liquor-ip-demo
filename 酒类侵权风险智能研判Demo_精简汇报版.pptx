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3" name="Shape"/>
          <p:cNvSpPr/>
          <p:nvPr/>
        </p:nvSpPr>
        <p:spPr>
          <a:xfrm>
            <a:off x="777240" y="868680"/>
            <a:ext cx="1188720" cy="73152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4" name="Shape"/>
          <p:cNvSpPr/>
          <p:nvPr/>
        </p:nvSpPr>
        <p:spPr>
          <a:xfrm>
            <a:off x="777240" y="1325880"/>
            <a:ext cx="9784080" cy="73152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3000" b="1">
                <a:solidFill>
                  <a:srgbClr val="1F2A28"/>
                </a:solidFill>
                <a:latin typeface="Microsoft YaHei"/>
                <a:ea typeface="Microsoft YaHei"/>
              </a:rPr>
              <a:t>酒类侵权线索智能研判工作台</a:t>
            </a:r>
          </a:p>
        </p:txBody>
      </p:sp>
      <p:sp>
        <p:nvSpPr>
          <p:cNvPr id="5" name="Shape"/>
          <p:cNvSpPr/>
          <p:nvPr/>
        </p:nvSpPr>
        <p:spPr>
          <a:xfrm>
            <a:off x="822960" y="2212848"/>
            <a:ext cx="8138160" cy="47548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800">
                <a:solidFill>
                  <a:srgbClr val="66736F"/>
                </a:solidFill>
                <a:latin typeface="Microsoft YaHei"/>
                <a:ea typeface="Microsoft YaHei"/>
              </a:rPr>
              <a:t>律师标准驱动的线索初筛与复核辅助 Demo</a:t>
            </a:r>
          </a:p>
        </p:txBody>
      </p:sp>
      <p:sp>
        <p:nvSpPr>
          <p:cNvPr id="6" name="Shape"/>
          <p:cNvSpPr/>
          <p:nvPr/>
        </p:nvSpPr>
        <p:spPr>
          <a:xfrm>
            <a:off x="822960" y="4069080"/>
            <a:ext cx="6492240" cy="512064"/>
          </a:xfrm>
          <a:prstGeom prst="roundRect">
            <a:avLst/>
          </a:prstGeom>
          <a:solidFill>
            <a:srgbClr val="E7F0EB"/>
          </a:solidFill>
          <a:ln w="6350">
            <a:solidFill>
              <a:srgbClr val="E7F0EB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300" b="1">
                <a:solidFill>
                  <a:srgbClr val="2F6B57"/>
                </a:solidFill>
                <a:latin typeface="Microsoft YaHei"/>
                <a:ea typeface="Microsoft YaHei"/>
              </a:rPr>
              <a:t>核心不是“AI 直接判侵权”，而是把判断标准、样本和复核过程沉淀下来</a:t>
            </a:r>
          </a:p>
        </p:txBody>
      </p:sp>
      <p:sp>
        <p:nvSpPr>
          <p:cNvPr id="7" name="Shape"/>
          <p:cNvSpPr/>
          <p:nvPr/>
        </p:nvSpPr>
        <p:spPr>
          <a:xfrm>
            <a:off x="8961120" y="5257800"/>
            <a:ext cx="2331720" cy="329184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r"/>
            <a:r>
              <a:rPr lang="zh-CN" sz="1200">
                <a:solidFill>
                  <a:srgbClr val="66736F"/>
                </a:solidFill>
                <a:latin typeface="Microsoft YaHei"/>
                <a:ea typeface="Microsoft Ya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3" name="Shape"/>
          <p:cNvSpPr/>
          <p:nvPr/>
        </p:nvSpPr>
        <p:spPr>
          <a:xfrm>
            <a:off x="640080" y="438912"/>
            <a:ext cx="128016" cy="47548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4" name="Shape"/>
          <p:cNvSpPr/>
          <p:nvPr/>
        </p:nvSpPr>
        <p:spPr>
          <a:xfrm>
            <a:off x="868680" y="384048"/>
            <a:ext cx="7132320" cy="50292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2000" b="1">
                <a:solidFill>
                  <a:srgbClr val="1F2A28"/>
                </a:solidFill>
                <a:latin typeface="Microsoft YaHei"/>
                <a:ea typeface="Microsoft YaHei"/>
              </a:rPr>
              <a:t>业务问题</a:t>
            </a:r>
          </a:p>
        </p:txBody>
      </p:sp>
      <p:sp>
        <p:nvSpPr>
          <p:cNvPr id="5" name="Shape"/>
          <p:cNvSpPr/>
          <p:nvPr/>
        </p:nvSpPr>
        <p:spPr>
          <a:xfrm>
            <a:off x="9509760" y="438912"/>
            <a:ext cx="1920240" cy="38404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r"/>
            <a:r>
              <a:rPr lang="zh-CN" sz="1000">
                <a:solidFill>
                  <a:srgbClr val="66736F"/>
                </a:solidFill>
                <a:latin typeface="Microsoft YaHei"/>
                <a:ea typeface="Microsoft YaHei"/>
              </a:rPr>
              <a:t>01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640080" y="1042416"/>
            <a:ext cx="10927080" cy="0"/>
          </a:xfrm>
          <a:prstGeom prst="line">
            <a:avLst/>
          </a:prstGeom>
          <a:ln w="19050">
            <a:solidFill>
              <a:srgbClr val="E3E8E4"/>
            </a:solidFill>
          </a:ln>
        </p:spPr>
      </p:cxnSp>
      <p:sp>
        <p:nvSpPr>
          <p:cNvPr id="7" name="Shape"/>
          <p:cNvSpPr/>
          <p:nvPr/>
        </p:nvSpPr>
        <p:spPr>
          <a:xfrm>
            <a:off x="868680" y="1417320"/>
            <a:ext cx="484632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800" b="1">
                <a:solidFill>
                  <a:srgbClr val="1F2A28"/>
                </a:solidFill>
                <a:latin typeface="Microsoft YaHei"/>
                <a:ea typeface="Microsoft YaHei"/>
              </a:rPr>
              <a:t>已发现线索之后，如何快速判断是否值得继续取证？</a:t>
            </a:r>
          </a:p>
        </p:txBody>
      </p:sp>
      <p:sp>
        <p:nvSpPr>
          <p:cNvPr id="8" name="Shape"/>
          <p:cNvSpPr/>
          <p:nvPr/>
        </p:nvSpPr>
        <p:spPr>
          <a:xfrm>
            <a:off x="1051560" y="2953512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9" name="Shape"/>
          <p:cNvSpPr/>
          <p:nvPr/>
        </p:nvSpPr>
        <p:spPr>
          <a:xfrm>
            <a:off x="1307592" y="2852928"/>
            <a:ext cx="466344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 b="1">
                <a:solidFill>
                  <a:srgbClr val="1F2A28"/>
                </a:solidFill>
                <a:latin typeface="Microsoft YaHei"/>
                <a:ea typeface="Microsoft YaHei"/>
              </a:rPr>
              <a:t>人工初筛重复、耗时，判断口径难统一。</a:t>
            </a:r>
          </a:p>
        </p:txBody>
      </p:sp>
      <p:sp>
        <p:nvSpPr>
          <p:cNvPr id="10" name="Shape"/>
          <p:cNvSpPr/>
          <p:nvPr/>
        </p:nvSpPr>
        <p:spPr>
          <a:xfrm>
            <a:off x="1051560" y="3483864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1" name="Shape"/>
          <p:cNvSpPr/>
          <p:nvPr/>
        </p:nvSpPr>
        <p:spPr>
          <a:xfrm>
            <a:off x="1307592" y="3383280"/>
            <a:ext cx="466344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>
                <a:solidFill>
                  <a:srgbClr val="1F2A28"/>
                </a:solidFill>
                <a:latin typeface="Microsoft YaHei"/>
                <a:ea typeface="Microsoft YaHei"/>
              </a:rPr>
              <a:t>律师经验沉淀在文档和个案中，复用成本高。</a:t>
            </a:r>
          </a:p>
        </p:txBody>
      </p:sp>
      <p:sp>
        <p:nvSpPr>
          <p:cNvPr id="12" name="Shape"/>
          <p:cNvSpPr/>
          <p:nvPr/>
        </p:nvSpPr>
        <p:spPr>
          <a:xfrm>
            <a:off x="1051560" y="4014216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3" name="Shape"/>
          <p:cNvSpPr/>
          <p:nvPr/>
        </p:nvSpPr>
        <p:spPr>
          <a:xfrm>
            <a:off x="1307592" y="3913632"/>
            <a:ext cx="466344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>
                <a:solidFill>
                  <a:srgbClr val="1F2A28"/>
                </a:solidFill>
                <a:latin typeface="Microsoft YaHei"/>
                <a:ea typeface="Microsoft YaHei"/>
              </a:rPr>
              <a:t>线索材料不完整时，需要快速提示补证方向。</a:t>
            </a:r>
          </a:p>
        </p:txBody>
      </p:sp>
      <p:sp>
        <p:nvSpPr>
          <p:cNvPr id="14" name="Shape"/>
          <p:cNvSpPr/>
          <p:nvPr/>
        </p:nvSpPr>
        <p:spPr>
          <a:xfrm>
            <a:off x="1051560" y="4544568"/>
            <a:ext cx="109728" cy="109728"/>
          </a:xfrm>
          <a:prstGeom prst="rect">
            <a:avLst/>
          </a:prstGeom>
          <a:solidFill>
            <a:srgbClr val="B9933F"/>
          </a:solidFill>
          <a:ln w="6350">
            <a:solidFill>
              <a:srgbClr val="B9933F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5" name="Shape"/>
          <p:cNvSpPr/>
          <p:nvPr/>
        </p:nvSpPr>
        <p:spPr>
          <a:xfrm>
            <a:off x="1307592" y="4443984"/>
            <a:ext cx="466344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>
                <a:solidFill>
                  <a:srgbClr val="1F2A28"/>
                </a:solidFill>
                <a:latin typeface="Microsoft YaHei"/>
                <a:ea typeface="Microsoft YaHei"/>
              </a:rPr>
              <a:t>单靠通用图片识别，解释性和法律语境不足。</a:t>
            </a:r>
          </a:p>
        </p:txBody>
      </p:sp>
      <p:sp>
        <p:nvSpPr>
          <p:cNvPr id="16" name="Shape"/>
          <p:cNvSpPr/>
          <p:nvPr/>
        </p:nvSpPr>
        <p:spPr>
          <a:xfrm>
            <a:off x="6263640" y="1417320"/>
            <a:ext cx="4983480" cy="3977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900" b="1">
                <a:solidFill>
                  <a:srgbClr val="2F6B57"/>
                </a:solidFill>
                <a:latin typeface="Microsoft YaHei"/>
                <a:ea typeface="Microsoft YaHei"/>
              </a:rPr>
              <a:t>系统定位</a:t>
            </a:r>
          </a:p>
          <a:p>
            <a:pPr algn="c"/>
            <a:r>
              <a:rPr lang="zh-CN" sz="2400" b="1">
                <a:solidFill>
                  <a:srgbClr val="1F2A28"/>
                </a:solidFill>
                <a:latin typeface="Microsoft YaHei"/>
                <a:ea typeface="Microsoft YaHei"/>
              </a:rPr>
              <a:t>线索研判</a:t>
            </a:r>
          </a:p>
          <a:p>
            <a:pPr algn="c"/>
            <a:r>
              <a:rPr lang="zh-CN" sz="1400">
                <a:solidFill>
                  <a:srgbClr val="66736F"/>
                </a:solidFill>
                <a:latin typeface="Microsoft YaHei"/>
                <a:ea typeface="Microsoft YaHei"/>
              </a:rPr>
              <a:t>不是线索发现</a:t>
            </a:r>
          </a:p>
          <a:p>
            <a:pPr algn="c"/>
            <a:r>
              <a:rPr lang="zh-CN" sz="1400">
                <a:solidFill>
                  <a:srgbClr val="66736F"/>
                </a:solidFill>
                <a:latin typeface="Microsoft YaHei"/>
                <a:ea typeface="Microsoft YaHei"/>
              </a:rPr>
              <a:t>不是最终法律结论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3" name="Shape"/>
          <p:cNvSpPr/>
          <p:nvPr/>
        </p:nvSpPr>
        <p:spPr>
          <a:xfrm>
            <a:off x="640080" y="438912"/>
            <a:ext cx="128016" cy="47548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4" name="Shape"/>
          <p:cNvSpPr/>
          <p:nvPr/>
        </p:nvSpPr>
        <p:spPr>
          <a:xfrm>
            <a:off x="868680" y="384048"/>
            <a:ext cx="7132320" cy="50292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2000" b="1">
                <a:solidFill>
                  <a:srgbClr val="1F2A28"/>
                </a:solidFill>
                <a:latin typeface="Microsoft YaHei"/>
                <a:ea typeface="Microsoft YaHei"/>
              </a:rPr>
              <a:t>解决方案</a:t>
            </a:r>
          </a:p>
        </p:txBody>
      </p:sp>
      <p:sp>
        <p:nvSpPr>
          <p:cNvPr id="5" name="Shape"/>
          <p:cNvSpPr/>
          <p:nvPr/>
        </p:nvSpPr>
        <p:spPr>
          <a:xfrm>
            <a:off x="9509760" y="438912"/>
            <a:ext cx="1920240" cy="38404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r"/>
            <a:r>
              <a:rPr lang="zh-CN" sz="1000">
                <a:solidFill>
                  <a:srgbClr val="66736F"/>
                </a:solidFill>
                <a:latin typeface="Microsoft YaHei"/>
                <a:ea typeface="Microsoft YaHei"/>
              </a:rPr>
              <a:t>02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640080" y="1042416"/>
            <a:ext cx="10927080" cy="0"/>
          </a:xfrm>
          <a:prstGeom prst="line">
            <a:avLst/>
          </a:prstGeom>
          <a:ln w="19050">
            <a:solidFill>
              <a:srgbClr val="E3E8E4"/>
            </a:solidFill>
          </a:ln>
        </p:spPr>
      </p:cxnSp>
      <p:sp>
        <p:nvSpPr>
          <p:cNvPr id="7" name="Shape"/>
          <p:cNvSpPr/>
          <p:nvPr/>
        </p:nvSpPr>
        <p:spPr>
          <a:xfrm>
            <a:off x="777240" y="160020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上传线索图片</a:t>
            </a:r>
          </a:p>
        </p:txBody>
      </p:sp>
      <p:cxnSp>
        <p:nvCxnSpPr>
          <p:cNvPr id="8" name="Line"/>
          <p:cNvCxnSpPr/>
          <p:nvPr/>
        </p:nvCxnSpPr>
        <p:spPr>
          <a:xfrm>
            <a:off x="2542032" y="191109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9" name="Shape"/>
          <p:cNvSpPr/>
          <p:nvPr/>
        </p:nvSpPr>
        <p:spPr>
          <a:xfrm>
            <a:off x="2999232" y="160020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识别文字/视觉</a:t>
            </a:r>
          </a:p>
        </p:txBody>
      </p:sp>
      <p:cxnSp>
        <p:nvCxnSpPr>
          <p:cNvPr id="10" name="Line"/>
          <p:cNvCxnSpPr/>
          <p:nvPr/>
        </p:nvCxnSpPr>
        <p:spPr>
          <a:xfrm>
            <a:off x="4764024" y="191109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11" name="Shape"/>
          <p:cNvSpPr/>
          <p:nvPr/>
        </p:nvSpPr>
        <p:spPr>
          <a:xfrm>
            <a:off x="5221224" y="160020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匹配律师标准</a:t>
            </a:r>
          </a:p>
        </p:txBody>
      </p:sp>
      <p:cxnSp>
        <p:nvCxnSpPr>
          <p:cNvPr id="12" name="Line"/>
          <p:cNvCxnSpPr/>
          <p:nvPr/>
        </p:nvCxnSpPr>
        <p:spPr>
          <a:xfrm>
            <a:off x="6986016" y="191109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13" name="Shape"/>
          <p:cNvSpPr/>
          <p:nvPr/>
        </p:nvSpPr>
        <p:spPr>
          <a:xfrm>
            <a:off x="7443216" y="160020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计算风险分级</a:t>
            </a:r>
          </a:p>
        </p:txBody>
      </p:sp>
      <p:cxnSp>
        <p:nvCxnSpPr>
          <p:cNvPr id="14" name="Line"/>
          <p:cNvCxnSpPr/>
          <p:nvPr/>
        </p:nvCxnSpPr>
        <p:spPr>
          <a:xfrm>
            <a:off x="9208008" y="191109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15" name="Shape"/>
          <p:cNvSpPr/>
          <p:nvPr/>
        </p:nvSpPr>
        <p:spPr>
          <a:xfrm>
            <a:off x="9665208" y="1600200"/>
            <a:ext cx="1691640" cy="621792"/>
          </a:xfrm>
          <a:prstGeom prst="round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FFFFFF"/>
                </a:solidFill>
                <a:latin typeface="Microsoft YaHei"/>
                <a:ea typeface="Microsoft YaHei"/>
              </a:rPr>
              <a:t>输出复核建议</a:t>
            </a:r>
          </a:p>
        </p:txBody>
      </p:sp>
      <p:sp>
        <p:nvSpPr>
          <p:cNvPr id="16" name="Shape"/>
          <p:cNvSpPr/>
          <p:nvPr/>
        </p:nvSpPr>
        <p:spPr>
          <a:xfrm>
            <a:off x="914400" y="2926080"/>
            <a:ext cx="10287000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700" b="1">
                <a:solidFill>
                  <a:srgbClr val="1F2A28"/>
                </a:solidFill>
                <a:latin typeface="Microsoft YaHei"/>
                <a:ea typeface="Microsoft YaHei"/>
              </a:rPr>
              <a:t>系统先判断“像不像正品/历史被控样本”，再结合律师规则给出线索风险评分。</a:t>
            </a:r>
          </a:p>
        </p:txBody>
      </p:sp>
      <p:sp>
        <p:nvSpPr>
          <p:cNvPr id="17" name="Shape"/>
          <p:cNvSpPr/>
          <p:nvPr/>
        </p:nvSpPr>
        <p:spPr>
          <a:xfrm>
            <a:off x="914400" y="4343400"/>
            <a:ext cx="3108960" cy="914400"/>
          </a:xfrm>
          <a:prstGeom prst="roundRect">
            <a:avLst/>
          </a:prstGeom>
          <a:solidFill>
            <a:srgbClr val="E7F0EB"/>
          </a:solidFill>
          <a:ln w="6350">
            <a:solidFill>
              <a:srgbClr val="E7F0EB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800" b="1">
                <a:solidFill>
                  <a:srgbClr val="2F6B57"/>
                </a:solidFill>
                <a:latin typeface="Microsoft YaHei"/>
                <a:ea typeface="Microsoft YaHei"/>
              </a:rPr>
              <a:t>律师标准</a:t>
            </a:r>
          </a:p>
          <a:p>
            <a:pPr algn="l"/>
            <a:r>
              <a:rPr lang="zh-CN" sz="1200">
                <a:solidFill>
                  <a:srgbClr val="66736F"/>
                </a:solidFill>
                <a:latin typeface="Microsoft YaHei"/>
                <a:ea typeface="Microsoft YaHei"/>
              </a:rPr>
              <a:t>主判断依据</a:t>
            </a:r>
          </a:p>
        </p:txBody>
      </p:sp>
      <p:sp>
        <p:nvSpPr>
          <p:cNvPr id="18" name="Shape"/>
          <p:cNvSpPr/>
          <p:nvPr/>
        </p:nvSpPr>
        <p:spPr>
          <a:xfrm>
            <a:off x="4297680" y="4343400"/>
            <a:ext cx="310896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800" b="1">
                <a:solidFill>
                  <a:srgbClr val="2F6B57"/>
                </a:solidFill>
                <a:latin typeface="Microsoft YaHei"/>
                <a:ea typeface="Microsoft YaHei"/>
              </a:rPr>
              <a:t>样本库</a:t>
            </a:r>
          </a:p>
          <a:p>
            <a:pPr algn="l"/>
            <a:r>
              <a:rPr lang="zh-CN" sz="1200">
                <a:solidFill>
                  <a:srgbClr val="66736F"/>
                </a:solidFill>
                <a:latin typeface="Microsoft YaHei"/>
                <a:ea typeface="Microsoft YaHei"/>
              </a:rPr>
              <a:t>正品 / 高风险样本</a:t>
            </a:r>
          </a:p>
        </p:txBody>
      </p:sp>
      <p:sp>
        <p:nvSpPr>
          <p:cNvPr id="19" name="Shape"/>
          <p:cNvSpPr/>
          <p:nvPr/>
        </p:nvSpPr>
        <p:spPr>
          <a:xfrm>
            <a:off x="7680960" y="4343400"/>
            <a:ext cx="310896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800" b="1">
                <a:solidFill>
                  <a:srgbClr val="2F6B57"/>
                </a:solidFill>
                <a:latin typeface="Microsoft YaHei"/>
                <a:ea typeface="Microsoft YaHei"/>
              </a:rPr>
              <a:t>多模态模型</a:t>
            </a:r>
          </a:p>
          <a:p>
            <a:pPr algn="l"/>
            <a:r>
              <a:rPr lang="zh-CN" sz="1200">
                <a:solidFill>
                  <a:srgbClr val="66736F"/>
                </a:solidFill>
                <a:latin typeface="Microsoft YaHei"/>
                <a:ea typeface="Microsoft YaHei"/>
              </a:rPr>
              <a:t>文字 / 包装 / 结构化识别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3" name="Shape"/>
          <p:cNvSpPr/>
          <p:nvPr/>
        </p:nvSpPr>
        <p:spPr>
          <a:xfrm>
            <a:off x="640080" y="438912"/>
            <a:ext cx="128016" cy="47548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4" name="Shape"/>
          <p:cNvSpPr/>
          <p:nvPr/>
        </p:nvSpPr>
        <p:spPr>
          <a:xfrm>
            <a:off x="868680" y="384048"/>
            <a:ext cx="7132320" cy="50292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2000" b="1">
                <a:solidFill>
                  <a:srgbClr val="1F2A28"/>
                </a:solidFill>
                <a:latin typeface="Microsoft YaHei"/>
                <a:ea typeface="Microsoft YaHei"/>
              </a:rPr>
              <a:t>当前可演示能力</a:t>
            </a:r>
          </a:p>
        </p:txBody>
      </p:sp>
      <p:sp>
        <p:nvSpPr>
          <p:cNvPr id="5" name="Shape"/>
          <p:cNvSpPr/>
          <p:nvPr/>
        </p:nvSpPr>
        <p:spPr>
          <a:xfrm>
            <a:off x="9509760" y="438912"/>
            <a:ext cx="1920240" cy="38404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r"/>
            <a:r>
              <a:rPr lang="zh-CN" sz="1000">
                <a:solidFill>
                  <a:srgbClr val="66736F"/>
                </a:solidFill>
                <a:latin typeface="Microsoft YaHei"/>
                <a:ea typeface="Microsoft YaHei"/>
              </a:rPr>
              <a:t>03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640080" y="1042416"/>
            <a:ext cx="10927080" cy="0"/>
          </a:xfrm>
          <a:prstGeom prst="line">
            <a:avLst/>
          </a:prstGeom>
          <a:ln w="19050">
            <a:solidFill>
              <a:srgbClr val="E3E8E4"/>
            </a:solidFill>
          </a:ln>
        </p:spPr>
      </p:cxnSp>
      <p:sp>
        <p:nvSpPr>
          <p:cNvPr id="7" name="Shape"/>
          <p:cNvSpPr/>
          <p:nvPr/>
        </p:nvSpPr>
        <p:spPr>
          <a:xfrm>
            <a:off x="960120" y="1417320"/>
            <a:ext cx="10195560" cy="713232"/>
          </a:xfrm>
          <a:prstGeom prst="roundRect">
            <a:avLst/>
          </a:prstGeom>
          <a:solidFill>
            <a:srgbClr val="E7F0EB"/>
          </a:solidFill>
          <a:ln w="6350">
            <a:solidFill>
              <a:srgbClr val="E7F0EB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2000" b="1">
                <a:solidFill>
                  <a:srgbClr val="2F6B57"/>
                </a:solidFill>
                <a:latin typeface="Microsoft YaHei"/>
                <a:ea typeface="Microsoft YaHei"/>
              </a:rPr>
              <a:t>已具备单张图片线索的完整初筛链路。</a:t>
            </a:r>
          </a:p>
        </p:txBody>
      </p:sp>
      <p:sp>
        <p:nvSpPr>
          <p:cNvPr id="8" name="Shape"/>
          <p:cNvSpPr/>
          <p:nvPr/>
        </p:nvSpPr>
        <p:spPr>
          <a:xfrm>
            <a:off x="1143000" y="2679192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9" name="Shape"/>
          <p:cNvSpPr/>
          <p:nvPr/>
        </p:nvSpPr>
        <p:spPr>
          <a:xfrm>
            <a:off x="1399032" y="2578608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500" b="1">
                <a:solidFill>
                  <a:srgbClr val="1F2A28"/>
                </a:solidFill>
                <a:latin typeface="Microsoft YaHei"/>
                <a:ea typeface="Microsoft YaHei"/>
              </a:rPr>
              <a:t>上传图片后输出风险等级、风险评分和判断依据。</a:t>
            </a:r>
          </a:p>
        </p:txBody>
      </p:sp>
      <p:sp>
        <p:nvSpPr>
          <p:cNvPr id="10" name="Shape"/>
          <p:cNvSpPr/>
          <p:nvPr/>
        </p:nvSpPr>
        <p:spPr>
          <a:xfrm>
            <a:off x="1143000" y="3246120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1" name="Shape"/>
          <p:cNvSpPr/>
          <p:nvPr/>
        </p:nvSpPr>
        <p:spPr>
          <a:xfrm>
            <a:off x="1399032" y="3145536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500">
                <a:solidFill>
                  <a:srgbClr val="1F2A28"/>
                </a:solidFill>
                <a:latin typeface="Microsoft YaHei"/>
                <a:ea typeface="Microsoft YaHei"/>
              </a:rPr>
              <a:t>支持正品样本、高风险样本、律师文档规则入库。</a:t>
            </a:r>
          </a:p>
        </p:txBody>
      </p:sp>
      <p:sp>
        <p:nvSpPr>
          <p:cNvPr id="12" name="Shape"/>
          <p:cNvSpPr/>
          <p:nvPr/>
        </p:nvSpPr>
        <p:spPr>
          <a:xfrm>
            <a:off x="1143000" y="3813048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3" name="Shape"/>
          <p:cNvSpPr/>
          <p:nvPr/>
        </p:nvSpPr>
        <p:spPr>
          <a:xfrm>
            <a:off x="1399032" y="3712464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500">
                <a:solidFill>
                  <a:srgbClr val="1F2A28"/>
                </a:solidFill>
                <a:latin typeface="Microsoft YaHei"/>
                <a:ea typeface="Microsoft YaHei"/>
              </a:rPr>
              <a:t>展示相似点、差异点、证据缺口和补证建议。</a:t>
            </a:r>
          </a:p>
        </p:txBody>
      </p:sp>
      <p:sp>
        <p:nvSpPr>
          <p:cNvPr id="14" name="Shape"/>
          <p:cNvSpPr/>
          <p:nvPr/>
        </p:nvSpPr>
        <p:spPr>
          <a:xfrm>
            <a:off x="1143000" y="4379976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5" name="Shape"/>
          <p:cNvSpPr/>
          <p:nvPr/>
        </p:nvSpPr>
        <p:spPr>
          <a:xfrm>
            <a:off x="1399032" y="4279392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500">
                <a:solidFill>
                  <a:srgbClr val="1F2A28"/>
                </a:solidFill>
                <a:latin typeface="Microsoft YaHei"/>
                <a:ea typeface="Microsoft YaHei"/>
              </a:rPr>
              <a:t>管理端可维护样本、规则和研判策略。</a:t>
            </a:r>
          </a:p>
        </p:txBody>
      </p:sp>
      <p:sp>
        <p:nvSpPr>
          <p:cNvPr id="16" name="Shape"/>
          <p:cNvSpPr/>
          <p:nvPr/>
        </p:nvSpPr>
        <p:spPr>
          <a:xfrm>
            <a:off x="1143000" y="4946904"/>
            <a:ext cx="109728" cy="109728"/>
          </a:xfrm>
          <a:prstGeom prst="rect">
            <a:avLst/>
          </a:prstGeom>
          <a:solidFill>
            <a:srgbClr val="B9933F"/>
          </a:solidFill>
          <a:ln w="6350">
            <a:solidFill>
              <a:srgbClr val="B9933F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7" name="Shape"/>
          <p:cNvSpPr/>
          <p:nvPr/>
        </p:nvSpPr>
        <p:spPr>
          <a:xfrm>
            <a:off x="1399032" y="4846320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500">
                <a:solidFill>
                  <a:srgbClr val="1F2A28"/>
                </a:solidFill>
                <a:latin typeface="Microsoft YaHei"/>
                <a:ea typeface="Microsoft YaHei"/>
              </a:rPr>
              <a:t>可运行回归评测，持续发现误判和漏判。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3" name="Shape"/>
          <p:cNvSpPr/>
          <p:nvPr/>
        </p:nvSpPr>
        <p:spPr>
          <a:xfrm>
            <a:off x="640080" y="438912"/>
            <a:ext cx="128016" cy="47548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4" name="Shape"/>
          <p:cNvSpPr/>
          <p:nvPr/>
        </p:nvSpPr>
        <p:spPr>
          <a:xfrm>
            <a:off x="868680" y="384048"/>
            <a:ext cx="7132320" cy="50292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2000" b="1">
                <a:solidFill>
                  <a:srgbClr val="1F2A28"/>
                </a:solidFill>
                <a:latin typeface="Microsoft YaHei"/>
                <a:ea typeface="Microsoft YaHei"/>
              </a:rPr>
              <a:t>信息化价值</a:t>
            </a:r>
          </a:p>
        </p:txBody>
      </p:sp>
      <p:sp>
        <p:nvSpPr>
          <p:cNvPr id="5" name="Shape"/>
          <p:cNvSpPr/>
          <p:nvPr/>
        </p:nvSpPr>
        <p:spPr>
          <a:xfrm>
            <a:off x="9509760" y="438912"/>
            <a:ext cx="1920240" cy="38404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r"/>
            <a:r>
              <a:rPr lang="zh-CN" sz="1000">
                <a:solidFill>
                  <a:srgbClr val="66736F"/>
                </a:solidFill>
                <a:latin typeface="Microsoft YaHei"/>
                <a:ea typeface="Microsoft YaHei"/>
              </a:rPr>
              <a:t>04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640080" y="1042416"/>
            <a:ext cx="10927080" cy="0"/>
          </a:xfrm>
          <a:prstGeom prst="line">
            <a:avLst/>
          </a:prstGeom>
          <a:ln w="19050">
            <a:solidFill>
              <a:srgbClr val="E3E8E4"/>
            </a:solidFill>
          </a:ln>
        </p:spPr>
      </p:cxnSp>
      <p:sp>
        <p:nvSpPr>
          <p:cNvPr id="7" name="Shape"/>
          <p:cNvSpPr/>
          <p:nvPr/>
        </p:nvSpPr>
        <p:spPr>
          <a:xfrm>
            <a:off x="868680" y="1417320"/>
            <a:ext cx="3337560" cy="10789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800" b="1">
                <a:solidFill>
                  <a:srgbClr val="2F6B57"/>
                </a:solidFill>
                <a:latin typeface="Microsoft YaHei"/>
                <a:ea typeface="Microsoft YaHei"/>
              </a:rPr>
              <a:t>标准沉淀</a:t>
            </a:r>
          </a:p>
          <a:p>
            <a:pPr algn="l"/>
            <a:r>
              <a:rPr lang="zh-CN" sz="1200">
                <a:solidFill>
                  <a:srgbClr val="66736F"/>
                </a:solidFill>
                <a:latin typeface="Microsoft YaHei"/>
                <a:ea typeface="Microsoft YaHei"/>
              </a:rPr>
              <a:t>把律师判断逻辑结构化</a:t>
            </a:r>
          </a:p>
        </p:txBody>
      </p:sp>
      <p:sp>
        <p:nvSpPr>
          <p:cNvPr id="8" name="Shape"/>
          <p:cNvSpPr/>
          <p:nvPr/>
        </p:nvSpPr>
        <p:spPr>
          <a:xfrm>
            <a:off x="4434840" y="1417320"/>
            <a:ext cx="3337560" cy="10789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800" b="1">
                <a:solidFill>
                  <a:srgbClr val="2F6B57"/>
                </a:solidFill>
                <a:latin typeface="Microsoft YaHei"/>
                <a:ea typeface="Microsoft YaHei"/>
              </a:rPr>
              <a:t>流程提效</a:t>
            </a:r>
          </a:p>
          <a:p>
            <a:pPr algn="l"/>
            <a:r>
              <a:rPr lang="zh-CN" sz="1200">
                <a:solidFill>
                  <a:srgbClr val="66736F"/>
                </a:solidFill>
                <a:latin typeface="Microsoft YaHei"/>
                <a:ea typeface="Microsoft YaHei"/>
              </a:rPr>
              <a:t>先分流，再人工复核</a:t>
            </a:r>
          </a:p>
        </p:txBody>
      </p:sp>
      <p:sp>
        <p:nvSpPr>
          <p:cNvPr id="9" name="Shape"/>
          <p:cNvSpPr/>
          <p:nvPr/>
        </p:nvSpPr>
        <p:spPr>
          <a:xfrm>
            <a:off x="8001000" y="1417320"/>
            <a:ext cx="3337560" cy="10789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800" b="1">
                <a:solidFill>
                  <a:srgbClr val="2F6B57"/>
                </a:solidFill>
                <a:latin typeface="Microsoft YaHei"/>
                <a:ea typeface="Microsoft YaHei"/>
              </a:rPr>
              <a:t>数据闭环</a:t>
            </a:r>
          </a:p>
          <a:p>
            <a:pPr algn="l"/>
            <a:r>
              <a:rPr lang="zh-CN" sz="1200">
                <a:solidFill>
                  <a:srgbClr val="66736F"/>
                </a:solidFill>
                <a:latin typeface="Microsoft YaHei"/>
                <a:ea typeface="Microsoft YaHei"/>
              </a:rPr>
              <a:t>样本、反馈、评测可迭代</a:t>
            </a:r>
          </a:p>
        </p:txBody>
      </p:sp>
      <p:sp>
        <p:nvSpPr>
          <p:cNvPr id="10" name="Shape"/>
          <p:cNvSpPr/>
          <p:nvPr/>
        </p:nvSpPr>
        <p:spPr>
          <a:xfrm>
            <a:off x="960120" y="3246120"/>
            <a:ext cx="10195560" cy="914400"/>
          </a:xfrm>
          <a:prstGeom prst="roundRect">
            <a:avLst/>
          </a:prstGeom>
          <a:solidFill>
            <a:srgbClr val="E7F0EB"/>
          </a:solidFill>
          <a:ln w="6350">
            <a:solidFill>
              <a:srgbClr val="E7F0EB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2000" b="1">
                <a:solidFill>
                  <a:srgbClr val="2F6B57"/>
                </a:solidFill>
                <a:latin typeface="Microsoft YaHei"/>
                <a:ea typeface="Microsoft YaHei"/>
              </a:rPr>
              <a:t>从一次性判断，升级为可管理、可评估、可扩展的品牌保护知识资产。</a:t>
            </a:r>
          </a:p>
        </p:txBody>
      </p:sp>
      <p:sp>
        <p:nvSpPr>
          <p:cNvPr id="11" name="Shape"/>
          <p:cNvSpPr/>
          <p:nvPr/>
        </p:nvSpPr>
        <p:spPr>
          <a:xfrm>
            <a:off x="1188720" y="4873752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2" name="Shape"/>
          <p:cNvSpPr/>
          <p:nvPr/>
        </p:nvSpPr>
        <p:spPr>
          <a:xfrm>
            <a:off x="1444752" y="4773168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>
                <a:solidFill>
                  <a:srgbClr val="1F2A28"/>
                </a:solidFill>
                <a:latin typeface="Microsoft YaHei"/>
                <a:ea typeface="Microsoft YaHei"/>
              </a:rPr>
              <a:t>适合对接已有 OA、案件管理、线索台账或品牌保护流程。</a:t>
            </a:r>
          </a:p>
        </p:txBody>
      </p:sp>
      <p:sp>
        <p:nvSpPr>
          <p:cNvPr id="13" name="Shape"/>
          <p:cNvSpPr/>
          <p:nvPr/>
        </p:nvSpPr>
        <p:spPr>
          <a:xfrm>
            <a:off x="1188720" y="5404104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4" name="Shape"/>
          <p:cNvSpPr/>
          <p:nvPr/>
        </p:nvSpPr>
        <p:spPr>
          <a:xfrm>
            <a:off x="1444752" y="5303520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>
                <a:solidFill>
                  <a:srgbClr val="1F2A28"/>
                </a:solidFill>
                <a:latin typeface="Microsoft YaHei"/>
                <a:ea typeface="Microsoft YaHei"/>
              </a:rPr>
              <a:t>后续可扩展批量线索、角色权限、复核工单和处置记录。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3" name="Shape"/>
          <p:cNvSpPr/>
          <p:nvPr/>
        </p:nvSpPr>
        <p:spPr>
          <a:xfrm>
            <a:off x="640080" y="438912"/>
            <a:ext cx="128016" cy="47548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4" name="Shape"/>
          <p:cNvSpPr/>
          <p:nvPr/>
        </p:nvSpPr>
        <p:spPr>
          <a:xfrm>
            <a:off x="868680" y="384048"/>
            <a:ext cx="7132320" cy="50292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2000" b="1">
                <a:solidFill>
                  <a:srgbClr val="1F2A28"/>
                </a:solidFill>
                <a:latin typeface="Microsoft YaHei"/>
                <a:ea typeface="Microsoft YaHei"/>
              </a:rPr>
              <a:t>当前边界与下一步</a:t>
            </a:r>
          </a:p>
        </p:txBody>
      </p:sp>
      <p:sp>
        <p:nvSpPr>
          <p:cNvPr id="5" name="Shape"/>
          <p:cNvSpPr/>
          <p:nvPr/>
        </p:nvSpPr>
        <p:spPr>
          <a:xfrm>
            <a:off x="9509760" y="438912"/>
            <a:ext cx="1920240" cy="38404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r"/>
            <a:r>
              <a:rPr lang="zh-CN" sz="1000">
                <a:solidFill>
                  <a:srgbClr val="66736F"/>
                </a:solidFill>
                <a:latin typeface="Microsoft YaHei"/>
                <a:ea typeface="Microsoft YaHei"/>
              </a:rPr>
              <a:t>05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640080" y="1042416"/>
            <a:ext cx="10927080" cy="0"/>
          </a:xfrm>
          <a:prstGeom prst="line">
            <a:avLst/>
          </a:prstGeom>
          <a:ln w="19050">
            <a:solidFill>
              <a:srgbClr val="E3E8E4"/>
            </a:solidFill>
          </a:ln>
        </p:spPr>
      </p:cxnSp>
      <p:sp>
        <p:nvSpPr>
          <p:cNvPr id="7" name="Shape"/>
          <p:cNvSpPr/>
          <p:nvPr/>
        </p:nvSpPr>
        <p:spPr>
          <a:xfrm>
            <a:off x="914400" y="1417320"/>
            <a:ext cx="5074920" cy="4160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900" b="1">
                <a:solidFill>
                  <a:srgbClr val="B85C57"/>
                </a:solidFill>
                <a:latin typeface="Microsoft YaHei"/>
                <a:ea typeface="Microsoft YaHei"/>
              </a:rPr>
              <a:t>当前边界</a:t>
            </a:r>
          </a:p>
          <a:p>
            <a:pPr algn="l"/>
            <a:r>
              <a:rPr lang="zh-CN" sz="1300">
                <a:solidFill>
                  <a:srgbClr val="66736F"/>
                </a:solidFill>
                <a:latin typeface="Microsoft YaHei"/>
                <a:ea typeface="Microsoft YaHei"/>
              </a:rPr>
              <a:t>Demo 阶段，不能作为最终法律结论</a:t>
            </a:r>
          </a:p>
          <a:p>
            <a:pPr algn="l"/>
            <a:r>
              <a:rPr lang="zh-CN" sz="1300">
                <a:solidFill>
                  <a:srgbClr val="66736F"/>
                </a:solidFill>
                <a:latin typeface="Microsoft YaHei"/>
                <a:ea typeface="Microsoft YaHei"/>
              </a:rPr>
              <a:t>主要支持习酒相关单图研判</a:t>
            </a:r>
          </a:p>
          <a:p>
            <a:pPr algn="l"/>
            <a:r>
              <a:rPr lang="zh-CN" sz="1300">
                <a:solidFill>
                  <a:srgbClr val="66736F"/>
                </a:solidFill>
                <a:latin typeface="Microsoft YaHei"/>
                <a:ea typeface="Microsoft YaHei"/>
              </a:rPr>
              <a:t>准确率依赖样本质量和律师标签</a:t>
            </a:r>
          </a:p>
          <a:p>
            <a:pPr algn="l"/>
            <a:r>
              <a:rPr lang="zh-CN" sz="1300">
                <a:solidFill>
                  <a:srgbClr val="66736F"/>
                </a:solidFill>
                <a:latin typeface="Microsoft YaHei"/>
                <a:ea typeface="Microsoft YaHei"/>
              </a:rPr>
              <a:t>模型稳定性仍需工程化监控</a:t>
            </a:r>
          </a:p>
        </p:txBody>
      </p:sp>
      <p:sp>
        <p:nvSpPr>
          <p:cNvPr id="8" name="Shape"/>
          <p:cNvSpPr/>
          <p:nvPr/>
        </p:nvSpPr>
        <p:spPr>
          <a:xfrm>
            <a:off x="6263640" y="1417320"/>
            <a:ext cx="5074920" cy="4160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900" b="1">
                <a:solidFill>
                  <a:srgbClr val="2F6B57"/>
                </a:solidFill>
                <a:latin typeface="Microsoft YaHei"/>
                <a:ea typeface="Microsoft YaHei"/>
              </a:rPr>
              <a:t>下一步</a:t>
            </a:r>
          </a:p>
          <a:p>
            <a:pPr algn="l"/>
            <a:r>
              <a:rPr lang="zh-CN" sz="1300">
                <a:solidFill>
                  <a:srgbClr val="66736F"/>
                </a:solidFill>
                <a:latin typeface="Microsoft YaHei"/>
                <a:ea typeface="Microsoft YaHei"/>
              </a:rPr>
              <a:t>建立固定测试集和准确率看板</a:t>
            </a:r>
          </a:p>
          <a:p>
            <a:pPr algn="l"/>
            <a:r>
              <a:rPr lang="zh-CN" sz="1300">
                <a:solidFill>
                  <a:srgbClr val="66736F"/>
                </a:solidFill>
                <a:latin typeface="Microsoft YaHei"/>
                <a:ea typeface="Microsoft YaHei"/>
              </a:rPr>
              <a:t>强化正品保护和高风险模板匹配</a:t>
            </a:r>
          </a:p>
          <a:p>
            <a:pPr algn="l"/>
            <a:r>
              <a:rPr lang="zh-CN" sz="1300">
                <a:solidFill>
                  <a:srgbClr val="66736F"/>
                </a:solidFill>
                <a:latin typeface="Microsoft YaHei"/>
                <a:ea typeface="Microsoft YaHei"/>
              </a:rPr>
              <a:t>加入律师复核反馈闭环</a:t>
            </a:r>
          </a:p>
          <a:p>
            <a:pPr algn="l"/>
            <a:r>
              <a:rPr lang="zh-CN" sz="1300">
                <a:solidFill>
                  <a:srgbClr val="66736F"/>
                </a:solidFill>
                <a:latin typeface="Microsoft YaHei"/>
                <a:ea typeface="Microsoft YaHei"/>
              </a:rPr>
              <a:t>扩展批量处理与系统对接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3" name="Shape"/>
          <p:cNvSpPr/>
          <p:nvPr/>
        </p:nvSpPr>
        <p:spPr>
          <a:xfrm>
            <a:off x="640080" y="438912"/>
            <a:ext cx="128016" cy="47548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4" name="Shape"/>
          <p:cNvSpPr/>
          <p:nvPr/>
        </p:nvSpPr>
        <p:spPr>
          <a:xfrm>
            <a:off x="868680" y="384048"/>
            <a:ext cx="7132320" cy="50292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2000" b="1">
                <a:solidFill>
                  <a:srgbClr val="1F2A28"/>
                </a:solidFill>
                <a:latin typeface="Microsoft YaHei"/>
                <a:ea typeface="Microsoft YaHei"/>
              </a:rPr>
              <a:t>Demo 演示路径</a:t>
            </a:r>
          </a:p>
        </p:txBody>
      </p:sp>
      <p:sp>
        <p:nvSpPr>
          <p:cNvPr id="5" name="Shape"/>
          <p:cNvSpPr/>
          <p:nvPr/>
        </p:nvSpPr>
        <p:spPr>
          <a:xfrm>
            <a:off x="9509760" y="438912"/>
            <a:ext cx="1920240" cy="38404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r"/>
            <a:r>
              <a:rPr lang="zh-CN" sz="1000">
                <a:solidFill>
                  <a:srgbClr val="66736F"/>
                </a:solidFill>
                <a:latin typeface="Microsoft YaHei"/>
                <a:ea typeface="Microsoft YaHei"/>
              </a:rPr>
              <a:t>06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640080" y="1042416"/>
            <a:ext cx="10927080" cy="0"/>
          </a:xfrm>
          <a:prstGeom prst="line">
            <a:avLst/>
          </a:prstGeom>
          <a:ln w="19050">
            <a:solidFill>
              <a:srgbClr val="E3E8E4"/>
            </a:solidFill>
          </a:ln>
        </p:spPr>
      </p:cxnSp>
      <p:sp>
        <p:nvSpPr>
          <p:cNvPr id="7" name="Shape"/>
          <p:cNvSpPr/>
          <p:nvPr/>
        </p:nvSpPr>
        <p:spPr>
          <a:xfrm>
            <a:off x="914400" y="1417320"/>
            <a:ext cx="10287000" cy="731520"/>
          </a:xfrm>
          <a:prstGeom prst="roundRect">
            <a:avLst/>
          </a:prstGeom>
          <a:solidFill>
            <a:srgbClr val="E7F0EB"/>
          </a:solidFill>
          <a:ln w="6350">
            <a:solidFill>
              <a:srgbClr val="E7F0EB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900" b="1">
                <a:solidFill>
                  <a:srgbClr val="2F6B57"/>
                </a:solidFill>
                <a:latin typeface="Microsoft YaHei"/>
                <a:ea typeface="Microsoft YaHei"/>
              </a:rPr>
              <a:t>演示重点：看系统如何把一张图片变成可复核的线索研判报告。</a:t>
            </a:r>
          </a:p>
        </p:txBody>
      </p:sp>
      <p:sp>
        <p:nvSpPr>
          <p:cNvPr id="8" name="Shape"/>
          <p:cNvSpPr/>
          <p:nvPr/>
        </p:nvSpPr>
        <p:spPr>
          <a:xfrm>
            <a:off x="777240" y="274320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上传图片</a:t>
            </a:r>
          </a:p>
        </p:txBody>
      </p:sp>
      <p:cxnSp>
        <p:nvCxnSpPr>
          <p:cNvPr id="9" name="Line"/>
          <p:cNvCxnSpPr/>
          <p:nvPr/>
        </p:nvCxnSpPr>
        <p:spPr>
          <a:xfrm>
            <a:off x="2542032" y="305409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10" name="Shape"/>
          <p:cNvSpPr/>
          <p:nvPr/>
        </p:nvSpPr>
        <p:spPr>
          <a:xfrm>
            <a:off x="2999232" y="274320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查看风险分级</a:t>
            </a:r>
          </a:p>
        </p:txBody>
      </p:sp>
      <p:cxnSp>
        <p:nvCxnSpPr>
          <p:cNvPr id="11" name="Line"/>
          <p:cNvCxnSpPr/>
          <p:nvPr/>
        </p:nvCxnSpPr>
        <p:spPr>
          <a:xfrm>
            <a:off x="4764024" y="305409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12" name="Shape"/>
          <p:cNvSpPr/>
          <p:nvPr/>
        </p:nvSpPr>
        <p:spPr>
          <a:xfrm>
            <a:off x="5221224" y="274320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解释判断依据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6986016" y="305409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14" name="Shape"/>
          <p:cNvSpPr/>
          <p:nvPr/>
        </p:nvSpPr>
        <p:spPr>
          <a:xfrm>
            <a:off x="7443216" y="274320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看补证建议</a:t>
            </a:r>
          </a:p>
        </p:txBody>
      </p:sp>
      <p:cxnSp>
        <p:nvCxnSpPr>
          <p:cNvPr id="15" name="Line"/>
          <p:cNvCxnSpPr/>
          <p:nvPr/>
        </p:nvCxnSpPr>
        <p:spPr>
          <a:xfrm>
            <a:off x="9208008" y="305409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16" name="Shape"/>
          <p:cNvSpPr/>
          <p:nvPr/>
        </p:nvSpPr>
        <p:spPr>
          <a:xfrm>
            <a:off x="9665208" y="2743200"/>
            <a:ext cx="1691640" cy="621792"/>
          </a:xfrm>
          <a:prstGeom prst="round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FFFFFF"/>
                </a:solidFill>
                <a:latin typeface="Microsoft YaHei"/>
                <a:ea typeface="Microsoft YaHei"/>
              </a:rPr>
              <a:t>进入管理端</a:t>
            </a:r>
          </a:p>
        </p:txBody>
      </p:sp>
      <p:sp>
        <p:nvSpPr>
          <p:cNvPr id="17" name="Shape"/>
          <p:cNvSpPr/>
          <p:nvPr/>
        </p:nvSpPr>
        <p:spPr>
          <a:xfrm>
            <a:off x="1143000" y="4416552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8" name="Shape"/>
          <p:cNvSpPr/>
          <p:nvPr/>
        </p:nvSpPr>
        <p:spPr>
          <a:xfrm>
            <a:off x="1399032" y="4315968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 b="1">
                <a:solidFill>
                  <a:srgbClr val="1F2A28"/>
                </a:solidFill>
                <a:latin typeface="Microsoft YaHei"/>
                <a:ea typeface="Microsoft YaHei"/>
              </a:rPr>
              <a:t>话术：这是初筛助手，帮助决定“是否值得继续取证/复核”。</a:t>
            </a:r>
          </a:p>
        </p:txBody>
      </p:sp>
      <p:sp>
        <p:nvSpPr>
          <p:cNvPr id="19" name="Shape"/>
          <p:cNvSpPr/>
          <p:nvPr/>
        </p:nvSpPr>
        <p:spPr>
          <a:xfrm>
            <a:off x="1143000" y="4928616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20" name="Shape"/>
          <p:cNvSpPr/>
          <p:nvPr/>
        </p:nvSpPr>
        <p:spPr>
          <a:xfrm>
            <a:off x="1399032" y="4828032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>
                <a:solidFill>
                  <a:srgbClr val="1F2A28"/>
                </a:solidFill>
                <a:latin typeface="Microsoft YaHei"/>
                <a:ea typeface="Microsoft YaHei"/>
              </a:rPr>
              <a:t>重点展示：不是只给分数，而是给依据、差异点和下一步动作。</a:t>
            </a:r>
          </a:p>
        </p:txBody>
      </p:sp>
      <p:sp>
        <p:nvSpPr>
          <p:cNvPr id="21" name="Shape"/>
          <p:cNvSpPr/>
          <p:nvPr/>
        </p:nvSpPr>
        <p:spPr>
          <a:xfrm>
            <a:off x="1143000" y="5440680"/>
            <a:ext cx="109728" cy="109728"/>
          </a:xfrm>
          <a:prstGeom prst="rect">
            <a:avLst/>
          </a:prstGeom>
          <a:solidFill>
            <a:srgbClr val="B9933F"/>
          </a:solidFill>
          <a:ln w="6350">
            <a:solidFill>
              <a:srgbClr val="B9933F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22" name="Shape"/>
          <p:cNvSpPr/>
          <p:nvPr/>
        </p:nvSpPr>
        <p:spPr>
          <a:xfrm>
            <a:off x="1399032" y="5340096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>
                <a:solidFill>
                  <a:srgbClr val="1F2A28"/>
                </a:solidFill>
                <a:latin typeface="Microsoft YaHei"/>
                <a:ea typeface="Microsoft YaHei"/>
              </a:rPr>
              <a:t>收口：信息化价值在于标准、样本、反馈和评测持续沉淀。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Report">
  <a:themeElements>
    <a:clrScheme name="Clean">
      <a:dk1>
        <a:srgbClr val="1F2A28"/>
      </a:dk1>
      <a:lt1>
        <a:srgbClr val="FFFFFF"/>
      </a:lt1>
      <a:dk2>
        <a:srgbClr val="2F6B57"/>
      </a:dk2>
      <a:lt2>
        <a:srgbClr val="F7F8F6"/>
      </a:lt2>
      <a:accent1>
        <a:srgbClr val="2F6B57"/>
      </a:accent1>
      <a:accent2>
        <a:srgbClr val="B9933F"/>
      </a:accent2>
      <a:accent3>
        <a:srgbClr val="B85C57"/>
      </a:accent3>
      <a:accent4>
        <a:srgbClr val="E7F0EB"/>
      </a:accent4>
      <a:accent5>
        <a:srgbClr val="66736F"/>
      </a:accent5>
      <a:accent6>
        <a:srgbClr val="E3E8E4"/>
      </a:accent6>
      <a:hlink>
        <a:srgbClr val="2F6B57"/>
      </a:hlink>
      <a:folHlink>
        <a:srgbClr val="2F6B57"/>
      </a:folHlink>
    </a:clrScheme>
    <a:fontScheme name="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