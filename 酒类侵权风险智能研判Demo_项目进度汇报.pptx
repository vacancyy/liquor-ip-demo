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777240" y="868680"/>
            <a:ext cx="1188720" cy="73152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777240" y="1417320"/>
            <a:ext cx="9784080" cy="7315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3000" b="1">
                <a:solidFill>
                  <a:srgbClr val="1F2A28"/>
                </a:solidFill>
                <a:latin typeface="Microsoft YaHei"/>
                <a:ea typeface="Microsoft YaHei"/>
              </a:rPr>
              <a:t>酒类侵权风险智能研判 Demo</a:t>
            </a:r>
          </a:p>
        </p:txBody>
      </p:sp>
      <p:sp>
        <p:nvSpPr>
          <p:cNvPr id="5" name="Shape"/>
          <p:cNvSpPr/>
          <p:nvPr/>
        </p:nvSpPr>
        <p:spPr>
          <a:xfrm>
            <a:off x="822960" y="2331720"/>
            <a:ext cx="7863840" cy="47548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800">
                <a:solidFill>
                  <a:srgbClr val="66736F"/>
                </a:solidFill>
                <a:latin typeface="Microsoft YaHei"/>
                <a:ea typeface="Microsoft YaHei"/>
              </a:rPr>
              <a:t>项目进度简报 | 面向律师研判与信息化建设</a:t>
            </a:r>
          </a:p>
        </p:txBody>
      </p:sp>
      <p:sp>
        <p:nvSpPr>
          <p:cNvPr id="6" name="Shape"/>
          <p:cNvSpPr/>
          <p:nvPr/>
        </p:nvSpPr>
        <p:spPr>
          <a:xfrm>
            <a:off x="822960" y="4160520"/>
            <a:ext cx="5989320" cy="512064"/>
          </a:xfrm>
          <a:prstGeom prst="roundRect">
            <a:avLst/>
          </a:prstGeom>
          <a:solidFill>
            <a:srgbClr val="E7F0EB"/>
          </a:solidFill>
          <a:ln w="6350">
            <a:solidFill>
              <a:srgbClr val="E7F0EB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300" b="1">
                <a:solidFill>
                  <a:srgbClr val="2F6B57"/>
                </a:solidFill>
                <a:latin typeface="Microsoft YaHei"/>
                <a:ea typeface="Microsoft YaHei"/>
              </a:rPr>
              <a:t>不是单点 AI 工具，而是可沉淀标准、样本和反馈的数据化工作台</a:t>
            </a:r>
          </a:p>
        </p:txBody>
      </p:sp>
      <p:sp>
        <p:nvSpPr>
          <p:cNvPr id="7" name="Shape"/>
          <p:cNvSpPr/>
          <p:nvPr/>
        </p:nvSpPr>
        <p:spPr>
          <a:xfrm>
            <a:off x="8961120" y="5257800"/>
            <a:ext cx="2331720" cy="329184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当前完成情况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01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868680" y="1417320"/>
            <a:ext cx="4846320" cy="868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800" b="1">
                <a:solidFill>
                  <a:srgbClr val="1F2A28"/>
                </a:solidFill>
                <a:latin typeface="Microsoft YaHei"/>
                <a:ea typeface="Microsoft YaHei"/>
              </a:rPr>
              <a:t>已形成可演示的图片侵权研判工作台。</a:t>
            </a:r>
          </a:p>
        </p:txBody>
      </p:sp>
      <p:sp>
        <p:nvSpPr>
          <p:cNvPr id="8" name="Shape"/>
          <p:cNvSpPr/>
          <p:nvPr/>
        </p:nvSpPr>
        <p:spPr>
          <a:xfrm>
            <a:off x="1051560" y="281635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9" name="Shape"/>
          <p:cNvSpPr/>
          <p:nvPr/>
        </p:nvSpPr>
        <p:spPr>
          <a:xfrm>
            <a:off x="1307592" y="2715768"/>
            <a:ext cx="448056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 b="1">
                <a:solidFill>
                  <a:srgbClr val="1F2A28"/>
                </a:solidFill>
                <a:latin typeface="Microsoft YaHei"/>
                <a:ea typeface="Microsoft YaHei"/>
              </a:rPr>
              <a:t>图片上传、风险研判、依据展示。</a:t>
            </a:r>
          </a:p>
        </p:txBody>
      </p:sp>
      <p:sp>
        <p:nvSpPr>
          <p:cNvPr id="10" name="Shape"/>
          <p:cNvSpPr/>
          <p:nvPr/>
        </p:nvSpPr>
        <p:spPr>
          <a:xfrm>
            <a:off x="1051560" y="3346704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1" name="Shape"/>
          <p:cNvSpPr/>
          <p:nvPr/>
        </p:nvSpPr>
        <p:spPr>
          <a:xfrm>
            <a:off x="1307592" y="3246120"/>
            <a:ext cx="448056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素材回显、过程提示、复核建议。</a:t>
            </a:r>
          </a:p>
        </p:txBody>
      </p:sp>
      <p:sp>
        <p:nvSpPr>
          <p:cNvPr id="12" name="Shape"/>
          <p:cNvSpPr/>
          <p:nvPr/>
        </p:nvSpPr>
        <p:spPr>
          <a:xfrm>
            <a:off x="1051560" y="3877056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3" name="Shape"/>
          <p:cNvSpPr/>
          <p:nvPr/>
        </p:nvSpPr>
        <p:spPr>
          <a:xfrm>
            <a:off x="1307592" y="3776472"/>
            <a:ext cx="448056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律师材料、侵权样本、正品样本已接入。</a:t>
            </a:r>
          </a:p>
        </p:txBody>
      </p:sp>
      <p:sp>
        <p:nvSpPr>
          <p:cNvPr id="14" name="Shape"/>
          <p:cNvSpPr/>
          <p:nvPr/>
        </p:nvSpPr>
        <p:spPr>
          <a:xfrm>
            <a:off x="1051560" y="4407408"/>
            <a:ext cx="109728" cy="109728"/>
          </a:xfrm>
          <a:prstGeom prst="rect">
            <a:avLst/>
          </a:prstGeom>
          <a:solidFill>
            <a:srgbClr val="B9933F"/>
          </a:solidFill>
          <a:ln w="6350">
            <a:solidFill>
              <a:srgbClr val="B9933F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5" name="Shape"/>
          <p:cNvSpPr/>
          <p:nvPr/>
        </p:nvSpPr>
        <p:spPr>
          <a:xfrm>
            <a:off x="1307592" y="4306824"/>
            <a:ext cx="448056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400">
                <a:solidFill>
                  <a:srgbClr val="1F2A28"/>
                </a:solidFill>
                <a:latin typeface="Microsoft YaHei"/>
                <a:ea typeface="Microsoft YaHei"/>
              </a:rPr>
              <a:t>下一步建立固定测试集评估准确率。</a:t>
            </a:r>
          </a:p>
        </p:txBody>
      </p:sp>
      <p:sp>
        <p:nvSpPr>
          <p:cNvPr id="16" name="Shape"/>
          <p:cNvSpPr/>
          <p:nvPr/>
        </p:nvSpPr>
        <p:spPr>
          <a:xfrm>
            <a:off x="6172200" y="1417320"/>
            <a:ext cx="5074920" cy="39776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800" b="1">
                <a:solidFill>
                  <a:srgbClr val="66736F"/>
                </a:solidFill>
                <a:latin typeface="Microsoft YaHei"/>
                <a:ea typeface="Microsoft YaHei"/>
              </a:rPr>
              <a:t>系统截图位置</a:t>
            </a:r>
          </a:p>
          <a:p>
            <a:pPr algn="c"/>
            <a:r>
              <a:rPr lang="zh-CN" sz="1200">
                <a:solidFill>
                  <a:srgbClr val="66736F"/>
                </a:solidFill>
                <a:latin typeface="Microsoft YaHei"/>
                <a:ea typeface="Microsoft YaHei"/>
              </a:rPr>
              <a:t>建议放：上传图片后的研判结果页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系统架构与数据闭环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02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777240" y="16916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律师端上传</a:t>
            </a:r>
          </a:p>
        </p:txBody>
      </p:sp>
      <p:cxnSp>
        <p:nvCxnSpPr>
          <p:cNvPr id="8" name="Line"/>
          <p:cNvCxnSpPr/>
          <p:nvPr/>
        </p:nvCxnSpPr>
        <p:spPr>
          <a:xfrm>
            <a:off x="2542032" y="20025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9" name="Shape"/>
          <p:cNvSpPr/>
          <p:nvPr/>
        </p:nvSpPr>
        <p:spPr>
          <a:xfrm>
            <a:off x="2999232" y="16916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工作台</a:t>
            </a:r>
          </a:p>
        </p:txBody>
      </p:sp>
      <p:cxnSp>
        <p:nvCxnSpPr>
          <p:cNvPr id="10" name="Line"/>
          <p:cNvCxnSpPr/>
          <p:nvPr/>
        </p:nvCxnSpPr>
        <p:spPr>
          <a:xfrm>
            <a:off x="4764024" y="20025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1" name="Shape"/>
          <p:cNvSpPr/>
          <p:nvPr/>
        </p:nvSpPr>
        <p:spPr>
          <a:xfrm>
            <a:off x="5221224" y="16916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知识库/样本库</a:t>
            </a:r>
          </a:p>
        </p:txBody>
      </p:sp>
      <p:cxnSp>
        <p:nvCxnSpPr>
          <p:cNvPr id="12" name="Line"/>
          <p:cNvCxnSpPr/>
          <p:nvPr/>
        </p:nvCxnSpPr>
        <p:spPr>
          <a:xfrm>
            <a:off x="6986016" y="20025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3" name="Shape"/>
          <p:cNvSpPr/>
          <p:nvPr/>
        </p:nvSpPr>
        <p:spPr>
          <a:xfrm>
            <a:off x="7443216" y="16916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模型服务</a:t>
            </a:r>
          </a:p>
        </p:txBody>
      </p:sp>
      <p:cxnSp>
        <p:nvCxnSpPr>
          <p:cNvPr id="14" name="Line"/>
          <p:cNvCxnSpPr/>
          <p:nvPr/>
        </p:nvCxnSpPr>
        <p:spPr>
          <a:xfrm>
            <a:off x="9208008" y="20025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5" name="Shape"/>
          <p:cNvSpPr/>
          <p:nvPr/>
        </p:nvSpPr>
        <p:spPr>
          <a:xfrm>
            <a:off x="9665208" y="1691640"/>
            <a:ext cx="1691640" cy="621792"/>
          </a:xfrm>
          <a:prstGeom prst="round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研判报告</a:t>
            </a:r>
          </a:p>
        </p:txBody>
      </p:sp>
      <p:sp>
        <p:nvSpPr>
          <p:cNvPr id="16" name="Shape"/>
          <p:cNvSpPr/>
          <p:nvPr/>
        </p:nvSpPr>
        <p:spPr>
          <a:xfrm>
            <a:off x="914400" y="2971800"/>
            <a:ext cx="1028700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700" b="1">
                <a:solidFill>
                  <a:srgbClr val="1F2A28"/>
                </a:solidFill>
                <a:latin typeface="Microsoft YaHei"/>
                <a:ea typeface="Microsoft YaHei"/>
              </a:rPr>
              <a:t>判断逻辑：先用样本和律师标准，再由大模型做识别、理解和辅助解释。</a:t>
            </a:r>
          </a:p>
        </p:txBody>
      </p:sp>
      <p:sp>
        <p:nvSpPr>
          <p:cNvPr id="17" name="Shape"/>
          <p:cNvSpPr/>
          <p:nvPr/>
        </p:nvSpPr>
        <p:spPr>
          <a:xfrm>
            <a:off x="777240" y="44348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律师标准</a:t>
            </a:r>
          </a:p>
        </p:txBody>
      </p:sp>
      <p:cxnSp>
        <p:nvCxnSpPr>
          <p:cNvPr id="18" name="Line"/>
          <p:cNvCxnSpPr/>
          <p:nvPr/>
        </p:nvCxnSpPr>
        <p:spPr>
          <a:xfrm>
            <a:off x="2542032" y="47457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19" name="Shape"/>
          <p:cNvSpPr/>
          <p:nvPr/>
        </p:nvSpPr>
        <p:spPr>
          <a:xfrm>
            <a:off x="2999232" y="44348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样本入库</a:t>
            </a:r>
          </a:p>
        </p:txBody>
      </p:sp>
      <p:cxnSp>
        <p:nvCxnSpPr>
          <p:cNvPr id="20" name="Line"/>
          <p:cNvCxnSpPr/>
          <p:nvPr/>
        </p:nvCxnSpPr>
        <p:spPr>
          <a:xfrm>
            <a:off x="4764024" y="47457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21" name="Shape"/>
          <p:cNvSpPr/>
          <p:nvPr/>
        </p:nvSpPr>
        <p:spPr>
          <a:xfrm>
            <a:off x="5221224" y="44348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系统研判</a:t>
            </a:r>
          </a:p>
        </p:txBody>
      </p:sp>
      <p:cxnSp>
        <p:nvCxnSpPr>
          <p:cNvPr id="22" name="Line"/>
          <p:cNvCxnSpPr/>
          <p:nvPr/>
        </p:nvCxnSpPr>
        <p:spPr>
          <a:xfrm>
            <a:off x="6986016" y="47457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23" name="Shape"/>
          <p:cNvSpPr/>
          <p:nvPr/>
        </p:nvSpPr>
        <p:spPr>
          <a:xfrm>
            <a:off x="7443216" y="4434840"/>
            <a:ext cx="1691640" cy="6217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3E8E4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1F2A28"/>
                </a:solidFill>
                <a:latin typeface="Microsoft YaHei"/>
                <a:ea typeface="Microsoft YaHei"/>
              </a:rPr>
              <a:t>律师复核</a:t>
            </a:r>
          </a:p>
        </p:txBody>
      </p:sp>
      <p:cxnSp>
        <p:nvCxnSpPr>
          <p:cNvPr id="24" name="Line"/>
          <p:cNvCxnSpPr/>
          <p:nvPr/>
        </p:nvCxnSpPr>
        <p:spPr>
          <a:xfrm>
            <a:off x="9208008" y="4745736"/>
            <a:ext cx="384048" cy="0"/>
          </a:xfrm>
          <a:prstGeom prst="line">
            <a:avLst/>
          </a:prstGeom>
          <a:ln w="19050">
            <a:solidFill>
              <a:srgbClr val="2F6B57"/>
            </a:solidFill>
          </a:ln>
        </p:spPr>
      </p:cxnSp>
      <p:sp>
        <p:nvSpPr>
          <p:cNvPr id="25" name="Shape"/>
          <p:cNvSpPr/>
          <p:nvPr/>
        </p:nvSpPr>
        <p:spPr>
          <a:xfrm>
            <a:off x="9665208" y="4434840"/>
            <a:ext cx="1691640" cy="621792"/>
          </a:xfrm>
          <a:prstGeom prst="round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</a:rPr>
              <a:t>持续优化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3" name="Shape"/>
          <p:cNvSpPr/>
          <p:nvPr/>
        </p:nvSpPr>
        <p:spPr>
          <a:xfrm>
            <a:off x="640080" y="438912"/>
            <a:ext cx="128016" cy="47548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4" name="Shape"/>
          <p:cNvSpPr/>
          <p:nvPr/>
        </p:nvSpPr>
        <p:spPr>
          <a:xfrm>
            <a:off x="868680" y="384048"/>
            <a:ext cx="7132320" cy="502920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2000" b="1">
                <a:solidFill>
                  <a:srgbClr val="1F2A28"/>
                </a:solidFill>
                <a:latin typeface="Microsoft YaHei"/>
                <a:ea typeface="Microsoft YaHei"/>
              </a:rPr>
              <a:t>下一步重点</a:t>
            </a:r>
          </a:p>
        </p:txBody>
      </p:sp>
      <p:sp>
        <p:nvSpPr>
          <p:cNvPr id="5" name="Shape"/>
          <p:cNvSpPr/>
          <p:nvPr/>
        </p:nvSpPr>
        <p:spPr>
          <a:xfrm>
            <a:off x="9509760" y="438912"/>
            <a:ext cx="1920240" cy="38404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r"/>
            <a:r>
              <a:rPr lang="zh-CN" sz="1000">
                <a:solidFill>
                  <a:srgbClr val="66736F"/>
                </a:solidFill>
                <a:latin typeface="Microsoft YaHei"/>
                <a:ea typeface="Microsoft YaHei"/>
              </a:rPr>
              <a:t>03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640080" y="1042416"/>
            <a:ext cx="10927080" cy="0"/>
          </a:xfrm>
          <a:prstGeom prst="line">
            <a:avLst/>
          </a:prstGeom>
          <a:ln w="19050">
            <a:solidFill>
              <a:srgbClr val="E3E8E4"/>
            </a:solidFill>
          </a:ln>
        </p:spPr>
      </p:cxnSp>
      <p:sp>
        <p:nvSpPr>
          <p:cNvPr id="7" name="Shape"/>
          <p:cNvSpPr/>
          <p:nvPr/>
        </p:nvSpPr>
        <p:spPr>
          <a:xfrm>
            <a:off x="960120" y="1508760"/>
            <a:ext cx="10195560" cy="868680"/>
          </a:xfrm>
          <a:prstGeom prst="roundRect">
            <a:avLst/>
          </a:prstGeom>
          <a:solidFill>
            <a:srgbClr val="E7F0EB"/>
          </a:solidFill>
          <a:ln w="6350">
            <a:solidFill>
              <a:srgbClr val="E7F0EB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c"/>
            <a:r>
              <a:rPr lang="zh-CN" sz="2000" b="1">
                <a:solidFill>
                  <a:srgbClr val="2F6B57"/>
                </a:solidFill>
                <a:latin typeface="Microsoft YaHei"/>
                <a:ea typeface="Microsoft YaHei"/>
              </a:rPr>
              <a:t>短期目标：从“能演示”推进到“可评估、可迭代”。</a:t>
            </a:r>
          </a:p>
        </p:txBody>
      </p:sp>
      <p:sp>
        <p:nvSpPr>
          <p:cNvPr id="8" name="Shape"/>
          <p:cNvSpPr/>
          <p:nvPr/>
        </p:nvSpPr>
        <p:spPr>
          <a:xfrm>
            <a:off x="1188720" y="309067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9" name="Shape"/>
          <p:cNvSpPr/>
          <p:nvPr/>
        </p:nvSpPr>
        <p:spPr>
          <a:xfrm>
            <a:off x="1444752" y="2990088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 b="1">
                <a:solidFill>
                  <a:srgbClr val="1F2A28"/>
                </a:solidFill>
                <a:latin typeface="Microsoft YaHei"/>
                <a:ea typeface="Microsoft YaHei"/>
              </a:rPr>
              <a:t>1. 律师继续确认判断标准和典型样本标签。</a:t>
            </a:r>
          </a:p>
        </p:txBody>
      </p:sp>
      <p:sp>
        <p:nvSpPr>
          <p:cNvPr id="10" name="Shape"/>
          <p:cNvSpPr/>
          <p:nvPr/>
        </p:nvSpPr>
        <p:spPr>
          <a:xfrm>
            <a:off x="1188720" y="373075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1" name="Shape"/>
          <p:cNvSpPr/>
          <p:nvPr/>
        </p:nvSpPr>
        <p:spPr>
          <a:xfrm>
            <a:off x="1444752" y="3630168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>
                <a:solidFill>
                  <a:srgbClr val="1F2A28"/>
                </a:solidFill>
                <a:latin typeface="Microsoft YaHei"/>
                <a:ea typeface="Microsoft YaHei"/>
              </a:rPr>
              <a:t>2. 建立固定测试集，输出灵敏度、特异度和误判原因。</a:t>
            </a:r>
          </a:p>
        </p:txBody>
      </p:sp>
      <p:sp>
        <p:nvSpPr>
          <p:cNvPr id="12" name="Shape"/>
          <p:cNvSpPr/>
          <p:nvPr/>
        </p:nvSpPr>
        <p:spPr>
          <a:xfrm>
            <a:off x="1188720" y="4370832"/>
            <a:ext cx="109728" cy="109728"/>
          </a:xfrm>
          <a:prstGeom prst="rect">
            <a:avLst/>
          </a:prstGeom>
          <a:solidFill>
            <a:srgbClr val="2F6B57"/>
          </a:solidFill>
          <a:ln w="6350">
            <a:solidFill>
              <a:srgbClr val="2F6B57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3" name="Shape"/>
          <p:cNvSpPr/>
          <p:nvPr/>
        </p:nvSpPr>
        <p:spPr>
          <a:xfrm>
            <a:off x="1444752" y="4270248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>
                <a:solidFill>
                  <a:srgbClr val="1F2A28"/>
                </a:solidFill>
                <a:latin typeface="Microsoft YaHei"/>
                <a:ea typeface="Microsoft YaHei"/>
              </a:rPr>
              <a:t>3. 根据实际复核结果持续调整样本库、规则库和模型提示。</a:t>
            </a:r>
          </a:p>
        </p:txBody>
      </p:sp>
      <p:sp>
        <p:nvSpPr>
          <p:cNvPr id="14" name="Shape"/>
          <p:cNvSpPr/>
          <p:nvPr/>
        </p:nvSpPr>
        <p:spPr>
          <a:xfrm>
            <a:off x="1188720" y="5010912"/>
            <a:ext cx="109728" cy="109728"/>
          </a:xfrm>
          <a:prstGeom prst="rect">
            <a:avLst/>
          </a:prstGeom>
          <a:solidFill>
            <a:srgbClr val="B9933F"/>
          </a:solidFill>
          <a:ln w="6350">
            <a:solidFill>
              <a:srgbClr val="B9933F"/>
            </a:solidFill>
          </a:ln>
        </p:spPr>
        <p:txBody>
          <a:bodyPr wrap="square" anchor="mid" lIns="152400" tIns="76200" rIns="152400" bIns="76200">
            <a:spAutoFit/>
          </a:bodyPr>
          <a:lstStyle/>
        </p:txBody>
      </p:sp>
      <p:sp>
        <p:nvSpPr>
          <p:cNvPr id="15" name="Shape"/>
          <p:cNvSpPr/>
          <p:nvPr/>
        </p:nvSpPr>
        <p:spPr>
          <a:xfrm>
            <a:off x="1444752" y="4910328"/>
            <a:ext cx="9875520" cy="292608"/>
          </a:xfrm>
          <a:prstGeom prst="rect">
            <a:avLst/>
          </a:prstGeom>
          <a:solidFill>
            <a:srgbClr val="F7F8F6"/>
          </a:solidFill>
          <a:ln w="6350">
            <a:solidFill>
              <a:srgbClr val="F7F8F6"/>
            </a:solidFill>
          </a:ln>
        </p:spPr>
        <p:txBody>
          <a:bodyPr wrap="square" anchor="mid" lIns="152400" tIns="76200" rIns="152400" bIns="76200">
            <a:spAutoFit/>
          </a:bodyPr>
          <a:lstStyle/>
          <a:p>
            <a:pPr algn="l"/>
            <a:r>
              <a:rPr lang="zh-CN" sz="1500">
                <a:solidFill>
                  <a:srgbClr val="1F2A28"/>
                </a:solidFill>
                <a:latin typeface="Microsoft YaHei"/>
                <a:ea typeface="Microsoft YaHei"/>
              </a:rPr>
              <a:t>4. 后续再扩展批量处理、权限管理和办案系统对接。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Report">
  <a:themeElements>
    <a:clrScheme name="Clean">
      <a:dk1>
        <a:srgbClr val="1F2A28"/>
      </a:dk1>
      <a:lt1>
        <a:srgbClr val="FFFFFF"/>
      </a:lt1>
      <a:dk2>
        <a:srgbClr val="2F6B57"/>
      </a:dk2>
      <a:lt2>
        <a:srgbClr val="F7F8F6"/>
      </a:lt2>
      <a:accent1>
        <a:srgbClr val="2F6B57"/>
      </a:accent1>
      <a:accent2>
        <a:srgbClr val="B9933F"/>
      </a:accent2>
      <a:accent3>
        <a:srgbClr val="B85C57"/>
      </a:accent3>
      <a:accent4>
        <a:srgbClr val="E7F0EB"/>
      </a:accent4>
      <a:accent5>
        <a:srgbClr val="66736F"/>
      </a:accent5>
      <a:accent6>
        <a:srgbClr val="E3E8E4"/>
      </a:accent6>
      <a:hlink>
        <a:srgbClr val="2F6B57"/>
      </a:hlink>
      <a:folHlink>
        <a:srgbClr val="2F6B57"/>
      </a:folHlink>
    </a:clrScheme>
    <a:fontScheme name="YaHei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